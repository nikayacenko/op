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8" r:id="rId2"/>
    <p:sldId id="262" r:id="rId3"/>
    <p:sldId id="263" r:id="rId4"/>
    <p:sldId id="264" r:id="rId5"/>
    <p:sldId id="306" r:id="rId6"/>
    <p:sldId id="265" r:id="rId7"/>
    <p:sldId id="309" r:id="rId8"/>
    <p:sldId id="308" r:id="rId9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519B18C6-5238-4DFC-8EFA-30F226D9747B}">
          <p14:sldIdLst>
            <p14:sldId id="258"/>
            <p14:sldId id="262"/>
            <p14:sldId id="263"/>
            <p14:sldId id="264"/>
            <p14:sldId id="306"/>
            <p14:sldId id="265"/>
            <p14:sldId id="309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BCCF"/>
    <a:srgbClr val="F5EBB9"/>
    <a:srgbClr val="F7DC9F"/>
    <a:srgbClr val="D4C990"/>
    <a:srgbClr val="D4DCC2"/>
    <a:srgbClr val="C7E1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39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2270" y="-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9C7DC7-7517-4A9C-BBD2-CB8372AF367C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23B176-D444-4263-BF77-16F5724F4B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42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23B176-D444-4263-BF77-16F5724F4B4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6662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BE99F-416B-AA8B-EFA1-9F4E0C821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DBE9311-DDE9-B663-35CA-F32488103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78A14B9-2E72-D9D0-0B2F-5502FDBE9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F970329-F911-D734-39BE-6354FE7F60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23B176-D444-4263-BF77-16F5724F4B4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524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0A1D8-CEEF-E21A-B1AD-6127B47C8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1406661-5885-7944-83FD-8E2C8EC24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27AE5F6-21FC-2464-5B49-730CA6D2E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2BD2AC-9135-C4DE-7F9B-BD6F2BA0B8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23B176-D444-4263-BF77-16F5724F4B4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2339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D511D-4492-4D7E-FC6A-B31B1FDA2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D1C31FF-AE72-D648-E6DF-5164E3F82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357789B-BE8E-10C3-A1B6-28A25B534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D36C43-8997-1922-247A-607F43CAC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23B176-D444-4263-BF77-16F5724F4B4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817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49015-FED0-2884-5559-CCF086C2D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379A35A-A03E-123A-06E8-BA0B9689D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6E7ACC-55E2-64AD-990E-3E6F3A9B5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F28B678-B31B-30A1-74DC-D5E243013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23B176-D444-4263-BF77-16F5724F4B4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9809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C2FBA-CA14-A1ED-E128-283997EDD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5C568ED-8BC1-CCFD-9C8D-50989E604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77AE8F9-F446-2AEB-EE1A-ED4FA0AB5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D52723-DA3C-F5BE-9A02-A6854452A7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23B176-D444-4263-BF77-16F5724F4B4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4452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7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80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82" indent="0" algn="ctr">
              <a:buNone/>
              <a:defRPr sz="1653"/>
            </a:lvl2pPr>
            <a:lvl3pPr marL="755964" indent="0" algn="ctr">
              <a:buNone/>
              <a:defRPr sz="1488"/>
            </a:lvl3pPr>
            <a:lvl4pPr marL="1133947" indent="0" algn="ctr">
              <a:buNone/>
              <a:defRPr sz="1323"/>
            </a:lvl4pPr>
            <a:lvl5pPr marL="1511929" indent="0" algn="ctr">
              <a:buNone/>
              <a:defRPr sz="1323"/>
            </a:lvl5pPr>
            <a:lvl6pPr marL="1889911" indent="0" algn="ctr">
              <a:buNone/>
              <a:defRPr sz="1323"/>
            </a:lvl6pPr>
            <a:lvl7pPr marL="2267893" indent="0" algn="ctr">
              <a:buNone/>
              <a:defRPr sz="1323"/>
            </a:lvl7pPr>
            <a:lvl8pPr marL="2645876" indent="0" algn="ctr">
              <a:buNone/>
              <a:defRPr sz="1323"/>
            </a:lvl8pPr>
            <a:lvl9pPr marL="3023858" indent="0" algn="ctr">
              <a:buNone/>
              <a:defRPr sz="1323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F7F8A-A442-4957-99D4-8D14F325C4F1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9381-B056-4263-A8C3-0F25737DF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6251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F7F8A-A442-4957-99D4-8D14F325C4F1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9381-B056-4263-A8C3-0F25737DF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9649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5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82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6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47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92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91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9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87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85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F7F8A-A442-4957-99D4-8D14F325C4F1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9381-B056-4263-A8C3-0F25737DF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179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2"/>
            <a:ext cx="3212862" cy="67838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2"/>
            <a:ext cx="3212862" cy="67838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F7F8A-A442-4957-99D4-8D14F325C4F1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9381-B056-4263-A8C3-0F25737DF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0759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82" indent="0">
              <a:buNone/>
              <a:defRPr sz="1653" b="1"/>
            </a:lvl2pPr>
            <a:lvl3pPr marL="755964" indent="0">
              <a:buNone/>
              <a:defRPr sz="1488" b="1"/>
            </a:lvl3pPr>
            <a:lvl4pPr marL="1133947" indent="0">
              <a:buNone/>
              <a:defRPr sz="1323" b="1"/>
            </a:lvl4pPr>
            <a:lvl5pPr marL="1511929" indent="0">
              <a:buNone/>
              <a:defRPr sz="1323" b="1"/>
            </a:lvl5pPr>
            <a:lvl6pPr marL="1889911" indent="0">
              <a:buNone/>
              <a:defRPr sz="1323" b="1"/>
            </a:lvl6pPr>
            <a:lvl7pPr marL="2267893" indent="0">
              <a:buNone/>
              <a:defRPr sz="1323" b="1"/>
            </a:lvl7pPr>
            <a:lvl8pPr marL="2645876" indent="0">
              <a:buNone/>
              <a:defRPr sz="1323" b="1"/>
            </a:lvl8pPr>
            <a:lvl9pPr marL="3023858" indent="0">
              <a:buNone/>
              <a:defRPr sz="132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7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82" indent="0">
              <a:buNone/>
              <a:defRPr sz="1653" b="1"/>
            </a:lvl2pPr>
            <a:lvl3pPr marL="755964" indent="0">
              <a:buNone/>
              <a:defRPr sz="1488" b="1"/>
            </a:lvl3pPr>
            <a:lvl4pPr marL="1133947" indent="0">
              <a:buNone/>
              <a:defRPr sz="1323" b="1"/>
            </a:lvl4pPr>
            <a:lvl5pPr marL="1511929" indent="0">
              <a:buNone/>
              <a:defRPr sz="1323" b="1"/>
            </a:lvl5pPr>
            <a:lvl6pPr marL="1889911" indent="0">
              <a:buNone/>
              <a:defRPr sz="1323" b="1"/>
            </a:lvl6pPr>
            <a:lvl7pPr marL="2267893" indent="0">
              <a:buNone/>
              <a:defRPr sz="1323" b="1"/>
            </a:lvl7pPr>
            <a:lvl8pPr marL="2645876" indent="0">
              <a:buNone/>
              <a:defRPr sz="1323" b="1"/>
            </a:lvl8pPr>
            <a:lvl9pPr marL="3023858" indent="0">
              <a:buNone/>
              <a:defRPr sz="132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7" y="3905482"/>
            <a:ext cx="3213847" cy="57443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F7F8A-A442-4957-99D4-8D14F325C4F1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9381-B056-4263-A8C3-0F25737DF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8737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F7F8A-A442-4957-99D4-8D14F325C4F1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9381-B056-4263-A8C3-0F25737DF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8131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F7F8A-A442-4957-99D4-8D14F325C4F1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9381-B056-4263-A8C3-0F25737DF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740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8" y="1539427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82" indent="0">
              <a:buNone/>
              <a:defRPr sz="1157"/>
            </a:lvl2pPr>
            <a:lvl3pPr marL="755964" indent="0">
              <a:buNone/>
              <a:defRPr sz="992"/>
            </a:lvl3pPr>
            <a:lvl4pPr marL="1133947" indent="0">
              <a:buNone/>
              <a:defRPr sz="827"/>
            </a:lvl4pPr>
            <a:lvl5pPr marL="1511929" indent="0">
              <a:buNone/>
              <a:defRPr sz="827"/>
            </a:lvl5pPr>
            <a:lvl6pPr marL="1889911" indent="0">
              <a:buNone/>
              <a:defRPr sz="827"/>
            </a:lvl6pPr>
            <a:lvl7pPr marL="2267893" indent="0">
              <a:buNone/>
              <a:defRPr sz="827"/>
            </a:lvl7pPr>
            <a:lvl8pPr marL="2645876" indent="0">
              <a:buNone/>
              <a:defRPr sz="827"/>
            </a:lvl8pPr>
            <a:lvl9pPr marL="3023858" indent="0">
              <a:buNone/>
              <a:defRPr sz="827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F7F8A-A442-4957-99D4-8D14F325C4F1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9381-B056-4263-A8C3-0F25737DF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4748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8" y="1539427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82" indent="0">
              <a:buNone/>
              <a:defRPr sz="2315"/>
            </a:lvl2pPr>
            <a:lvl3pPr marL="755964" indent="0">
              <a:buNone/>
              <a:defRPr sz="1984"/>
            </a:lvl3pPr>
            <a:lvl4pPr marL="1133947" indent="0">
              <a:buNone/>
              <a:defRPr sz="1653"/>
            </a:lvl4pPr>
            <a:lvl5pPr marL="1511929" indent="0">
              <a:buNone/>
              <a:defRPr sz="1653"/>
            </a:lvl5pPr>
            <a:lvl6pPr marL="1889911" indent="0">
              <a:buNone/>
              <a:defRPr sz="1653"/>
            </a:lvl6pPr>
            <a:lvl7pPr marL="2267893" indent="0">
              <a:buNone/>
              <a:defRPr sz="1653"/>
            </a:lvl7pPr>
            <a:lvl8pPr marL="2645876" indent="0">
              <a:buNone/>
              <a:defRPr sz="1653"/>
            </a:lvl8pPr>
            <a:lvl9pPr marL="3023858" indent="0">
              <a:buNone/>
              <a:defRPr sz="1653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82" indent="0">
              <a:buNone/>
              <a:defRPr sz="1157"/>
            </a:lvl2pPr>
            <a:lvl3pPr marL="755964" indent="0">
              <a:buNone/>
              <a:defRPr sz="992"/>
            </a:lvl3pPr>
            <a:lvl4pPr marL="1133947" indent="0">
              <a:buNone/>
              <a:defRPr sz="827"/>
            </a:lvl4pPr>
            <a:lvl5pPr marL="1511929" indent="0">
              <a:buNone/>
              <a:defRPr sz="827"/>
            </a:lvl5pPr>
            <a:lvl6pPr marL="1889911" indent="0">
              <a:buNone/>
              <a:defRPr sz="827"/>
            </a:lvl6pPr>
            <a:lvl7pPr marL="2267893" indent="0">
              <a:buNone/>
              <a:defRPr sz="827"/>
            </a:lvl7pPr>
            <a:lvl8pPr marL="2645876" indent="0">
              <a:buNone/>
              <a:defRPr sz="827"/>
            </a:lvl8pPr>
            <a:lvl9pPr marL="3023858" indent="0">
              <a:buNone/>
              <a:defRPr sz="827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F7F8A-A442-4957-99D4-8D14F325C4F1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9381-B056-4263-A8C3-0F25737DF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8888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F7F8A-A442-4957-99D4-8D14F325C4F1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9381-B056-4263-A8C3-0F25737DF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9335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2"/>
            <a:ext cx="1630055" cy="906081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2"/>
            <a:ext cx="4795669" cy="9060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F7F8A-A442-4957-99D4-8D14F325C4F1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9381-B056-4263-A8C3-0F25737DF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9194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2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F7F8A-A442-4957-99D4-8D14F325C4F1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09381-B056-4263-A8C3-0F25737DFC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827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6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91" indent="-188991" algn="l" defTabSz="75596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73" indent="-188991" algn="l" defTabSz="75596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55" indent="-188991" algn="l" defTabSz="75596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938" indent="-188991" algn="l" defTabSz="75596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921" indent="-188991" algn="l" defTabSz="75596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903" indent="-188991" algn="l" defTabSz="75596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885" indent="-188991" algn="l" defTabSz="75596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867" indent="-188991" algn="l" defTabSz="75596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850" indent="-188991" algn="l" defTabSz="75596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6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82" algn="l" defTabSz="75596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64" algn="l" defTabSz="75596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47" algn="l" defTabSz="75596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929" algn="l" defTabSz="75596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911" algn="l" defTabSz="75596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93" algn="l" defTabSz="75596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876" algn="l" defTabSz="75596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858" algn="l" defTabSz="75596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.jpe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BCC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484407-C3E3-43C7-749E-503A8F11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958CE614-CEB9-BBC2-A786-E0FF142C65B4}"/>
              </a:ext>
            </a:extLst>
          </p:cNvPr>
          <p:cNvSpPr/>
          <p:nvPr/>
        </p:nvSpPr>
        <p:spPr>
          <a:xfrm>
            <a:off x="270933" y="338667"/>
            <a:ext cx="6976534" cy="9990666"/>
          </a:xfrm>
          <a:prstGeom prst="roundRect">
            <a:avLst>
              <a:gd name="adj" fmla="val 8495"/>
            </a:avLst>
          </a:prstGeom>
          <a:solidFill>
            <a:srgbClr val="F5EBB9"/>
          </a:solidFill>
          <a:ln>
            <a:solidFill>
              <a:srgbClr val="D4DCC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AA3913-EC19-E88E-B77A-D4397A11885C}"/>
              </a:ext>
            </a:extLst>
          </p:cNvPr>
          <p:cNvSpPr txBox="1"/>
          <p:nvPr/>
        </p:nvSpPr>
        <p:spPr>
          <a:xfrm>
            <a:off x="1889760" y="5026075"/>
            <a:ext cx="3779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Cascadia Mono" panose="020B0609020000020004" pitchFamily="49" charset="0"/>
                <a:ea typeface="STXinwei" panose="02010800040101010101" pitchFamily="2" charset="-122"/>
                <a:cs typeface="Dreaming Outloud Script Pro" panose="03050502040304050704" pitchFamily="66" charset="0"/>
              </a:rPr>
              <a:t>Лабораторная работа №6</a:t>
            </a:r>
          </a:p>
        </p:txBody>
      </p:sp>
    </p:spTree>
    <p:extLst>
      <p:ext uri="{BB962C8B-B14F-4D97-AF65-F5344CB8AC3E}">
        <p14:creationId xmlns:p14="http://schemas.microsoft.com/office/powerpoint/2010/main" val="22798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BCC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CBBA41-248A-FA8A-F61D-CC0F675CD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DCBB574-7E03-7821-3366-022502C9A091}"/>
              </a:ext>
            </a:extLst>
          </p:cNvPr>
          <p:cNvSpPr/>
          <p:nvPr/>
        </p:nvSpPr>
        <p:spPr>
          <a:xfrm>
            <a:off x="270933" y="338667"/>
            <a:ext cx="6976534" cy="9990666"/>
          </a:xfrm>
          <a:prstGeom prst="roundRect">
            <a:avLst>
              <a:gd name="adj" fmla="val 8495"/>
            </a:avLst>
          </a:prstGeom>
          <a:solidFill>
            <a:srgbClr val="F5EBB9"/>
          </a:solidFill>
          <a:ln>
            <a:solidFill>
              <a:srgbClr val="D4DCC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62C2FF-35C0-96C3-6070-1D440D3AFC68}"/>
              </a:ext>
            </a:extLst>
          </p:cNvPr>
          <p:cNvSpPr txBox="1"/>
          <p:nvPr/>
        </p:nvSpPr>
        <p:spPr>
          <a:xfrm>
            <a:off x="312208" y="584199"/>
            <a:ext cx="69765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i="1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Лабораторная работа 6. </a:t>
            </a:r>
            <a:r>
              <a:rPr lang="ru-RU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Написать и отладить программу численного решения задачи (Индивидуальная задача 2) нахождения минимума функции многих переменных, используя метод </a:t>
            </a:r>
            <a:r>
              <a:rPr lang="ru-RU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Марквардта</a:t>
            </a:r>
            <a:r>
              <a:rPr lang="ru-RU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.</a:t>
            </a:r>
          </a:p>
          <a:p>
            <a:pPr algn="just"/>
            <a:endParaRPr lang="ru-RU" dirty="0"/>
          </a:p>
        </p:txBody>
      </p:sp>
      <p:pic>
        <p:nvPicPr>
          <p:cNvPr id="7" name="Рисунок 6" descr="Изображение выглядит как линия, прямоугольный, Прямоугольник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FDD74E6-28F4-3AED-1A84-A34D4B61560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5" y="2380575"/>
            <a:ext cx="6083285" cy="7870442"/>
          </a:xfrm>
          <a:prstGeom prst="rect">
            <a:avLst/>
          </a:prstGeom>
        </p:spPr>
      </p:pic>
      <p:pic>
        <p:nvPicPr>
          <p:cNvPr id="10" name="Рисунок 9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E5DDDAE-472A-56ED-E139-1DCF595292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74" t="20508" r="2509" b="62826"/>
          <a:stretch>
            <a:fillRect/>
          </a:stretch>
        </p:blipFill>
        <p:spPr>
          <a:xfrm>
            <a:off x="696920" y="2932332"/>
            <a:ext cx="5932277" cy="609600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F6EE112-36D6-D279-8027-8921D34A2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74" t="20508" r="2509" b="62826"/>
          <a:stretch>
            <a:fillRect/>
          </a:stretch>
        </p:blipFill>
        <p:spPr>
          <a:xfrm>
            <a:off x="566551" y="2398940"/>
            <a:ext cx="6083285" cy="609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C78E47-77E5-6EC9-C0DF-763A34980752}"/>
              </a:ext>
            </a:extLst>
          </p:cNvPr>
          <p:cNvSpPr txBox="1"/>
          <p:nvPr/>
        </p:nvSpPr>
        <p:spPr>
          <a:xfrm>
            <a:off x="909839" y="2470016"/>
            <a:ext cx="5698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latin typeface="Maki-Sans" panose="02000603000000000000" pitchFamily="2" charset="-52"/>
              </a:rPr>
              <a:t>Что значит сдать лабораторную работу?</a:t>
            </a:r>
          </a:p>
        </p:txBody>
      </p:sp>
      <p:pic>
        <p:nvPicPr>
          <p:cNvPr id="12" name="Рисунок 11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BC78F06-6B48-A031-5E53-E84FF6153A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74" t="20508" r="2509" b="62826"/>
          <a:stretch>
            <a:fillRect/>
          </a:stretch>
        </p:blipFill>
        <p:spPr>
          <a:xfrm>
            <a:off x="868563" y="5600828"/>
            <a:ext cx="2911274" cy="60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AEA5D2-FB0C-1726-6F58-9B8A07ED561F}"/>
              </a:ext>
            </a:extLst>
          </p:cNvPr>
          <p:cNvSpPr txBox="1"/>
          <p:nvPr/>
        </p:nvSpPr>
        <p:spPr>
          <a:xfrm>
            <a:off x="930476" y="2980739"/>
            <a:ext cx="569872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ru-RU" b="1" dirty="0">
                <a:latin typeface="Maki-Sans" panose="02000603000000000000" pitchFamily="2" charset="-52"/>
              </a:rPr>
              <a:t>Необходимо составит отчёт, в котором:</a:t>
            </a:r>
          </a:p>
          <a:p>
            <a:pPr marL="285761" indent="-285761" algn="just">
              <a:buFont typeface="Arial" panose="020B0604020202020204" pitchFamily="34" charset="0"/>
              <a:buChar char="•"/>
            </a:pPr>
            <a:r>
              <a:rPr lang="ru-RU" b="1" dirty="0">
                <a:latin typeface="Maki-Sans" panose="02000603000000000000" pitchFamily="2" charset="-52"/>
              </a:rPr>
              <a:t>Индивидуальная задача решена письменно (скан решения или фото) для каждого метода из лабораторной работы;</a:t>
            </a:r>
          </a:p>
          <a:p>
            <a:pPr marL="285761" indent="-285761" algn="just">
              <a:buFont typeface="Arial" panose="020B0604020202020204" pitchFamily="34" charset="0"/>
              <a:buChar char="•"/>
            </a:pPr>
            <a:r>
              <a:rPr lang="ru-RU" b="1" dirty="0">
                <a:latin typeface="Maki-Sans" panose="02000603000000000000" pitchFamily="2" charset="-52"/>
              </a:rPr>
              <a:t>Реализация каждого метода на любом языке программирования из лабораторной работы (работа кода продемонстрирована преподавателю).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8799D9-35E7-7877-BF71-ACC6F2E13DD2}"/>
              </a:ext>
            </a:extLst>
          </p:cNvPr>
          <p:cNvSpPr txBox="1"/>
          <p:nvPr/>
        </p:nvSpPr>
        <p:spPr>
          <a:xfrm>
            <a:off x="909839" y="5654279"/>
            <a:ext cx="569872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ru-RU" b="1" dirty="0">
                <a:latin typeface="Maki-Sans" panose="02000603000000000000" pitchFamily="2" charset="-52"/>
              </a:rPr>
              <a:t>Оформление отчёта:</a:t>
            </a:r>
          </a:p>
          <a:p>
            <a:pPr marL="285761" indent="-285761" algn="just">
              <a:buFont typeface="Arial" panose="020B0604020202020204" pitchFamily="34" charset="0"/>
              <a:buChar char="•"/>
            </a:pPr>
            <a:r>
              <a:rPr lang="ru-RU" b="1" dirty="0">
                <a:latin typeface="Maki-Sans" panose="02000603000000000000" pitchFamily="2" charset="-52"/>
              </a:rPr>
              <a:t>Титульный лист;</a:t>
            </a:r>
          </a:p>
          <a:p>
            <a:pPr marL="285761" indent="-285761" algn="just">
              <a:buFont typeface="Arial" panose="020B0604020202020204" pitchFamily="34" charset="0"/>
              <a:buChar char="•"/>
            </a:pPr>
            <a:r>
              <a:rPr lang="ru-RU" b="1" dirty="0">
                <a:latin typeface="Maki-Sans" panose="02000603000000000000" pitchFamily="2" charset="-52"/>
              </a:rPr>
              <a:t>Постановка задачи №1, алгоритм №1, код программы, результат программы, ручное решение метода;</a:t>
            </a:r>
          </a:p>
          <a:p>
            <a:pPr marL="285761" indent="-285761" algn="just">
              <a:buFont typeface="Arial" panose="020B0604020202020204" pitchFamily="34" charset="0"/>
              <a:buChar char="•"/>
            </a:pPr>
            <a:r>
              <a:rPr lang="ru-RU" b="1" dirty="0">
                <a:latin typeface="Maki-Sans" panose="02000603000000000000" pitchFamily="2" charset="-52"/>
              </a:rPr>
              <a:t>Постановка задачи №2, алгоритм №2, код программы, результат программы, ручное решение метода;</a:t>
            </a:r>
          </a:p>
          <a:p>
            <a:pPr marL="285761" indent="-285761" algn="just">
              <a:buFont typeface="Arial" panose="020B0604020202020204" pitchFamily="34" charset="0"/>
              <a:buChar char="•"/>
            </a:pPr>
            <a:r>
              <a:rPr lang="ru-RU" b="1" dirty="0">
                <a:latin typeface="Maki-Sans" panose="02000603000000000000" pitchFamily="2" charset="-52"/>
              </a:rPr>
              <a:t>Постановка задачи №3, алгоритм №3, код программы, результат программы, ручное решение метода;</a:t>
            </a:r>
          </a:p>
          <a:p>
            <a:pPr marL="285761" indent="-285761" algn="just">
              <a:buFont typeface="Arial" panose="020B0604020202020204" pitchFamily="34" charset="0"/>
              <a:buChar char="•"/>
            </a:pPr>
            <a:endParaRPr lang="ru-RU" b="1" dirty="0">
              <a:latin typeface="Maki-Sans" panose="02000603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582090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BCC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264C96-1062-FC69-C3F6-5F12712B6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445289C-E520-9F79-07E8-B1C9B446F4AC}"/>
              </a:ext>
            </a:extLst>
          </p:cNvPr>
          <p:cNvSpPr/>
          <p:nvPr/>
        </p:nvSpPr>
        <p:spPr>
          <a:xfrm>
            <a:off x="270933" y="338667"/>
            <a:ext cx="6976534" cy="9990666"/>
          </a:xfrm>
          <a:prstGeom prst="roundRect">
            <a:avLst>
              <a:gd name="adj" fmla="val 8495"/>
            </a:avLst>
          </a:prstGeom>
          <a:solidFill>
            <a:srgbClr val="F5EBB9"/>
          </a:solidFill>
          <a:ln>
            <a:solidFill>
              <a:srgbClr val="D4DCC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" name="Рисунок 1" descr="Изображение выглядит как линия, прямоугольный, Прямоугольник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638E5D0-2F63-4FD7-A4B7-2486EF4714A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33" y="338667"/>
            <a:ext cx="6999407" cy="999066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DFEA105-A668-ED08-68F6-65CA376343A2}"/>
              </a:ext>
            </a:extLst>
          </p:cNvPr>
          <p:cNvSpPr txBox="1"/>
          <p:nvPr/>
        </p:nvSpPr>
        <p:spPr>
          <a:xfrm>
            <a:off x="2407972" y="502290"/>
            <a:ext cx="2628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latin typeface="Maki-Sans" panose="02000603000000000000" pitchFamily="2" charset="-52"/>
              </a:rPr>
              <a:t>Метод </a:t>
            </a:r>
            <a:r>
              <a:rPr lang="ru-RU" b="1" dirty="0" err="1">
                <a:latin typeface="Maki-Sans" panose="02000603000000000000" pitchFamily="2" charset="-52"/>
                <a:cs typeface="Cascadia Mono" panose="020B0609020000020004" pitchFamily="49" charset="0"/>
              </a:rPr>
              <a:t>Марквардта</a:t>
            </a:r>
            <a:endParaRPr lang="ru-RU" b="1" dirty="0">
              <a:latin typeface="Maki-Sans" panose="02000603000000000000" pitchFamily="2" charset="-52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7E10FC9-3A3B-8977-1459-95ECAAC1C231}"/>
              </a:ext>
            </a:extLst>
          </p:cNvPr>
          <p:cNvSpPr txBox="1"/>
          <p:nvPr/>
        </p:nvSpPr>
        <p:spPr>
          <a:xfrm>
            <a:off x="456364" y="1117853"/>
            <a:ext cx="65314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Cascadia Mono" panose="020B0609020000020004" pitchFamily="49" charset="0"/>
                <a:cs typeface="Cascadia Mono" panose="020B0609020000020004" pitchFamily="49" charset="0"/>
              </a:rPr>
              <a:t>Это комбинация методов Ньютона и наискорейшего градиентного спуска. Вдали от точки минимума направление определяется по методу спуска, а в окрестности точки минимума – по методу Ньютона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endParaRPr lang="ru-RU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F1115"/>
              </a:solidFill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91C71F-4261-5F1B-F693-CE73028FC507}"/>
                  </a:ext>
                </a:extLst>
              </p:cNvPr>
              <p:cNvSpPr txBox="1"/>
              <p:nvPr/>
            </p:nvSpPr>
            <p:spPr>
              <a:xfrm>
                <a:off x="521284" y="2969886"/>
                <a:ext cx="6520204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При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ru-RU" dirty="0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: направление близко к ньютоновскому (быстрая сходимость)</a:t>
                </a:r>
                <a:r>
                  <a:rPr lang="en-US" dirty="0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.</a:t>
                </a:r>
                <a:endParaRPr lang="ru-RU" dirty="0">
                  <a:latin typeface="Cascadia Mono" panose="020B0609020000020004" pitchFamily="49" charset="0"/>
                  <a:cs typeface="Cascadia Mono" panose="020B0609020000020004" pitchFamily="49" charset="0"/>
                </a:endParaRPr>
              </a:p>
              <a:p>
                <a:pPr algn="just"/>
                <a:r>
                  <a:rPr lang="ru-RU" dirty="0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При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: направление близко к антиградиенту (устойчивый, но медленный спуск)</a:t>
                </a:r>
              </a:p>
              <a:p>
                <a:pPr algn="just"/>
                <a:r>
                  <a:rPr lang="ru-RU" dirty="0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Метод </a:t>
                </a:r>
                <a:r>
                  <a:rPr lang="ru-RU" dirty="0" err="1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Марквардта</a:t>
                </a:r>
                <a:r>
                  <a:rPr lang="ru-RU" dirty="0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 автоматически регулирует 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 между этими крайностями</a:t>
                </a:r>
                <a:r>
                  <a:rPr lang="en-US" dirty="0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.</a:t>
                </a:r>
                <a:endParaRPr lang="ru-RU" dirty="0">
                  <a:latin typeface="Cascadia Mono" panose="020B0609020000020004" pitchFamily="49" charset="0"/>
                  <a:cs typeface="Cascadia Mono" panose="020B0609020000020004" pitchFamily="49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91C71F-4261-5F1B-F693-CE73028FC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84" y="2969886"/>
                <a:ext cx="6520204" cy="1754326"/>
              </a:xfrm>
              <a:prstGeom prst="rect">
                <a:avLst/>
              </a:prstGeom>
              <a:blipFill>
                <a:blip r:embed="rId4"/>
                <a:stretch>
                  <a:fillRect l="-842" t="-1389" r="-2900" b="-52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E43ED97-4432-E49C-82A4-371196695C5A}"/>
                  </a:ext>
                </a:extLst>
              </p:cNvPr>
              <p:cNvSpPr txBox="1"/>
              <p:nvPr/>
            </p:nvSpPr>
            <p:spPr>
              <a:xfrm>
                <a:off x="521284" y="2369721"/>
                <a:ext cx="6517105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ru-RU" dirty="0">
                    <a:latin typeface="Maki-Sans" panose="02000603000000000000" pitchFamily="2" charset="-52"/>
                  </a:rPr>
                  <a:t> - некоторый коэффициент.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E43ED97-4432-E49C-82A4-371196695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84" y="2369721"/>
                <a:ext cx="6517105" cy="374270"/>
              </a:xfrm>
              <a:prstGeom prst="rect">
                <a:avLst/>
              </a:prstGeom>
              <a:blipFill>
                <a:blip r:embed="rId5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2731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BCC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DEC419-1A7A-8A46-F9E9-90B873945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91EA688-1A6B-89BD-008B-9A7C756D40B7}"/>
              </a:ext>
            </a:extLst>
          </p:cNvPr>
          <p:cNvSpPr/>
          <p:nvPr/>
        </p:nvSpPr>
        <p:spPr>
          <a:xfrm>
            <a:off x="270933" y="338667"/>
            <a:ext cx="6976534" cy="9990666"/>
          </a:xfrm>
          <a:prstGeom prst="roundRect">
            <a:avLst>
              <a:gd name="adj" fmla="val 8495"/>
            </a:avLst>
          </a:prstGeom>
          <a:solidFill>
            <a:srgbClr val="F5EBB9"/>
          </a:solidFill>
          <a:ln>
            <a:solidFill>
              <a:srgbClr val="D4DCC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" name="Рисунок 1" descr="Изображение выглядит как линия, прямоугольный, Прямоугольник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6138C69-81B7-4FFD-5D35-0641932DD36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33" y="338667"/>
            <a:ext cx="6999407" cy="999066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8A42DEA7-39E8-4605-EEE1-DFB030ADF537}"/>
              </a:ext>
            </a:extLst>
          </p:cNvPr>
          <p:cNvSpPr txBox="1"/>
          <p:nvPr/>
        </p:nvSpPr>
        <p:spPr>
          <a:xfrm>
            <a:off x="3042543" y="1732407"/>
            <a:ext cx="1474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latin typeface="Maki-Sans" panose="02000603000000000000" pitchFamily="2" charset="-52"/>
              </a:rPr>
              <a:t>Алгоритм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7D53BC-BFF5-4BA6-036C-E9E0A5FDFBD9}"/>
              </a:ext>
            </a:extLst>
          </p:cNvPr>
          <p:cNvSpPr txBox="1"/>
          <p:nvPr/>
        </p:nvSpPr>
        <p:spPr>
          <a:xfrm>
            <a:off x="491251" y="489674"/>
            <a:ext cx="3076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latin typeface="Maki-Sans" panose="02000603000000000000" pitchFamily="2" charset="-52"/>
              </a:rPr>
              <a:t>Постановка задачи: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ABFFA0-56B5-9B56-2EFA-758046803D6C}"/>
                  </a:ext>
                </a:extLst>
              </p:cNvPr>
              <p:cNvSpPr txBox="1"/>
              <p:nvPr/>
            </p:nvSpPr>
            <p:spPr>
              <a:xfrm>
                <a:off x="512083" y="809738"/>
                <a:ext cx="6517106" cy="12894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0" dirty="0">
                    <a:solidFill>
                      <a:srgbClr val="0F1115"/>
                    </a:solidFill>
                    <a:latin typeface="Comic Sans MS" panose="030F0702030302020204" pitchFamily="66" charset="0"/>
                  </a:rPr>
                  <a:t>Требуется найти локальный минимум функции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F1115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F111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F111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b="0" dirty="0">
                    <a:solidFill>
                      <a:srgbClr val="0F1115"/>
                    </a:solidFill>
                    <a:latin typeface="Comic Sans MS" panose="030F0702030302020204" pitchFamily="66" charset="0"/>
                  </a:rPr>
                  <a:t> </a:t>
                </a:r>
                <a:r>
                  <a:rPr lang="ru-RU" b="0" dirty="0">
                    <a:solidFill>
                      <a:srgbClr val="0F1115"/>
                    </a:solidFill>
                    <a:latin typeface="Comic Sans MS" panose="030F0702030302020204" pitchFamily="66" charset="0"/>
                  </a:rPr>
                  <a:t>многих переменных, т.е. найти такую точку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F111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F111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F1115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solidFill>
                          <a:srgbClr val="0F111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F111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F111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F111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b="0" dirty="0">
                    <a:solidFill>
                      <a:srgbClr val="0F1115"/>
                    </a:solidFill>
                    <a:latin typeface="Comic Sans MS" panose="030F0702030302020204" pitchFamily="66" charset="0"/>
                  </a:rPr>
                  <a:t>, </a:t>
                </a:r>
                <a:r>
                  <a:rPr lang="ru-RU" b="0" dirty="0">
                    <a:solidFill>
                      <a:srgbClr val="0F1115"/>
                    </a:solidFill>
                    <a:latin typeface="Comic Sans MS" panose="030F0702030302020204" pitchFamily="66" charset="0"/>
                  </a:rPr>
                  <a:t>что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ru-RU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>
                  <a:latin typeface="Comic Sans MS" panose="030F0702030302020204" pitchFamily="66" charset="0"/>
                  <a:ea typeface="Cambria Math" panose="02040503050406030204" pitchFamily="18" charset="0"/>
                </a:endParaRPr>
              </a:p>
              <a:p>
                <a:pPr algn="just"/>
                <a:r>
                  <a:rPr lang="ru-RU" b="0" dirty="0">
                    <a:solidFill>
                      <a:srgbClr val="0F1115"/>
                    </a:solidFill>
                    <a:latin typeface="Comic Sans MS" panose="030F0702030302020204" pitchFamily="66" charset="0"/>
                  </a:rPr>
                  <a:t>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ABFFA0-56B5-9B56-2EFA-758046803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83" y="809738"/>
                <a:ext cx="6517106" cy="1289456"/>
              </a:xfrm>
              <a:prstGeom prst="rect">
                <a:avLst/>
              </a:prstGeom>
              <a:blipFill>
                <a:blip r:embed="rId4"/>
                <a:stretch>
                  <a:fillRect l="-748" t="-2370" r="-842" b="-710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6A74B3-486E-4CBF-581B-642DC55F77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11502" y="2341467"/>
                <a:ext cx="5917687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61" indent="-28576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>
                    <a:latin typeface="Maki-Sans" panose="02000603000000000000" pitchFamily="2" charset="-52"/>
                  </a:rPr>
                  <a:t> – </a:t>
                </a:r>
                <a:r>
                  <a:rPr lang="ru-RU" dirty="0">
                    <a:latin typeface="Maki-Sans" panose="02000603000000000000" pitchFamily="2" charset="-52"/>
                  </a:rPr>
                  <a:t>начальная точка,</a:t>
                </a:r>
              </a:p>
              <a:p>
                <a:pPr marL="285761" indent="-28576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&gt;0</m:t>
                    </m:r>
                  </m:oMath>
                </a14:m>
                <a:r>
                  <a:rPr lang="ru-RU" dirty="0">
                    <a:latin typeface="Maki-Sans" panose="02000603000000000000" pitchFamily="2" charset="-52"/>
                  </a:rPr>
                  <a:t> – малое число,</a:t>
                </a:r>
                <a:endParaRPr lang="en-US" dirty="0">
                  <a:latin typeface="Maki-Sans" panose="02000603000000000000" pitchFamily="2" charset="-52"/>
                </a:endParaRPr>
              </a:p>
              <a:p>
                <a:pPr marL="285761" indent="-28576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latin typeface="Maki-Sans" panose="02000603000000000000" pitchFamily="2" charset="-52"/>
                  </a:rPr>
                  <a:t> – </a:t>
                </a:r>
                <a:r>
                  <a:rPr lang="ru-RU" dirty="0">
                    <a:latin typeface="Maki-Sans" panose="02000603000000000000" pitchFamily="2" charset="-52"/>
                  </a:rPr>
                  <a:t>предельное число итераций,</a:t>
                </a:r>
              </a:p>
              <a:p>
                <a:r>
                  <a:rPr lang="ru-RU" dirty="0">
                    <a:latin typeface="Maki-Sans" panose="02000603000000000000" pitchFamily="2" charset="-52"/>
                  </a:rPr>
                  <a:t>Найти градиент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Maki-Sans" panose="02000603000000000000" pitchFamily="2" charset="-52"/>
                  </a:rPr>
                  <a:t> </a:t>
                </a:r>
                <a:r>
                  <a:rPr lang="ru-RU" dirty="0">
                    <a:latin typeface="Maki-Sans" panose="02000603000000000000" pitchFamily="2" charset="-52"/>
                  </a:rPr>
                  <a:t>и матрицу Гессе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Maki-Sans" panose="02000603000000000000" pitchFamily="2" charset="-52"/>
                  </a:rPr>
                  <a:t>.</a:t>
                </a:r>
                <a:r>
                  <a:rPr lang="ru-RU" dirty="0">
                    <a:latin typeface="Maki-Sans" panose="02000603000000000000" pitchFamily="2" charset="-52"/>
                  </a:rPr>
                  <a:t> 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6A74B3-486E-4CBF-581B-642DC55F7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502" y="2341467"/>
                <a:ext cx="5917687" cy="1200329"/>
              </a:xfrm>
              <a:prstGeom prst="rect">
                <a:avLst/>
              </a:prstGeom>
              <a:blipFill>
                <a:blip r:embed="rId5"/>
                <a:stretch>
                  <a:fillRect l="-824" t="-2030" b="-76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Рисунок 17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6B5064B-E8F7-E889-E57A-FF7855AEEC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2" t="57683" r="54006" b="27041"/>
          <a:stretch>
            <a:fillRect/>
          </a:stretch>
        </p:blipFill>
        <p:spPr>
          <a:xfrm>
            <a:off x="561320" y="2004657"/>
            <a:ext cx="952727" cy="4664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180E4D-7C99-7A2C-2B1C-DEB97DCD7171}"/>
              </a:ext>
            </a:extLst>
          </p:cNvPr>
          <p:cNvSpPr txBox="1">
            <a:spLocks/>
          </p:cNvSpPr>
          <p:nvPr/>
        </p:nvSpPr>
        <p:spPr>
          <a:xfrm>
            <a:off x="561320" y="2026541"/>
            <a:ext cx="65314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latin typeface="Maki-Sans" panose="02000603000000000000" pitchFamily="2" charset="-52"/>
              </a:rPr>
              <a:t>Шаг 1. Задаём:</a:t>
            </a:r>
          </a:p>
        </p:txBody>
      </p:sp>
      <p:pic>
        <p:nvPicPr>
          <p:cNvPr id="3" name="Рисунок 2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BEF83E2-55AC-75CB-98E0-FA9E287D87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25" t="36578" r="3342" b="44970"/>
          <a:stretch>
            <a:fillRect/>
          </a:stretch>
        </p:blipFill>
        <p:spPr>
          <a:xfrm>
            <a:off x="359404" y="6481251"/>
            <a:ext cx="1807835" cy="792479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69DB9B0-E6D9-BA38-0D9B-0DE0832752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25" t="36578" r="3342" b="44970"/>
          <a:stretch>
            <a:fillRect/>
          </a:stretch>
        </p:blipFill>
        <p:spPr>
          <a:xfrm>
            <a:off x="5651120" y="7802670"/>
            <a:ext cx="1440179" cy="533563"/>
          </a:xfrm>
          <a:prstGeom prst="rect">
            <a:avLst/>
          </a:prstGeom>
        </p:spPr>
      </p:pic>
      <p:pic>
        <p:nvPicPr>
          <p:cNvPr id="12" name="Рисунок 11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ED9D643-13FD-9A68-D528-42213D5CBD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2" t="57683" r="54006" b="27041"/>
          <a:stretch>
            <a:fillRect/>
          </a:stretch>
        </p:blipFill>
        <p:spPr>
          <a:xfrm>
            <a:off x="512084" y="3537165"/>
            <a:ext cx="952727" cy="4664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D18C025-9E26-8994-D7E0-E41330057E60}"/>
                  </a:ext>
                </a:extLst>
              </p:cNvPr>
              <p:cNvSpPr txBox="1"/>
              <p:nvPr/>
            </p:nvSpPr>
            <p:spPr>
              <a:xfrm>
                <a:off x="512083" y="3596858"/>
                <a:ext cx="5917686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ru-RU" dirty="0">
                    <a:latin typeface="Maki-Sans" panose="02000603000000000000" pitchFamily="2" charset="-52"/>
                  </a:rPr>
                  <a:t>Шаг 2. Положим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Maki-Sans" panose="02000603000000000000" pitchFamily="2" charset="-52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>
                    <a:latin typeface="Maki-Sans" panose="02000603000000000000" pitchFamily="2" charset="-52"/>
                  </a:rPr>
                  <a:t>.</a:t>
                </a:r>
                <a:endParaRPr lang="ru-RU" dirty="0">
                  <a:latin typeface="Maki-Sans" panose="02000603000000000000" pitchFamily="2" charset="-52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D18C025-9E26-8994-D7E0-E41330057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83" y="3596858"/>
                <a:ext cx="5917686" cy="374270"/>
              </a:xfrm>
              <a:prstGeom prst="rect">
                <a:avLst/>
              </a:prstGeom>
              <a:blipFill>
                <a:blip r:embed="rId7"/>
                <a:stretch>
                  <a:fillRect l="-824" t="-6557" b="-262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Рисунок 13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B73895E-27CA-8D4E-7C9B-AE49691C0C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2" t="57683" r="54006" b="27041"/>
          <a:stretch>
            <a:fillRect/>
          </a:stretch>
        </p:blipFill>
        <p:spPr>
          <a:xfrm>
            <a:off x="491251" y="5915202"/>
            <a:ext cx="952727" cy="4664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072496-7372-D705-DF09-8E62174AFF94}"/>
                  </a:ext>
                </a:extLst>
              </p:cNvPr>
              <p:cNvSpPr txBox="1"/>
              <p:nvPr/>
            </p:nvSpPr>
            <p:spPr>
              <a:xfrm>
                <a:off x="491251" y="5968586"/>
                <a:ext cx="3312909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ru-RU" dirty="0">
                    <a:latin typeface="Maki-Sans" panose="02000603000000000000" pitchFamily="2" charset="-52"/>
                  </a:rPr>
                  <a:t>Шаг 3. Вычислить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latin typeface="Maki-Sans" panose="02000603000000000000" pitchFamily="2" charset="-52"/>
                  </a:rPr>
                  <a:t>.</a:t>
                </a:r>
                <a:endParaRPr lang="ru-RU" dirty="0">
                  <a:latin typeface="Maki-Sans" panose="02000603000000000000" pitchFamily="2" charset="-52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072496-7372-D705-DF09-8E62174AF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251" y="5968586"/>
                <a:ext cx="3312909" cy="404983"/>
              </a:xfrm>
              <a:prstGeom prst="rect">
                <a:avLst/>
              </a:prstGeom>
              <a:blipFill>
                <a:blip r:embed="rId8"/>
                <a:stretch>
                  <a:fillRect l="-1657" t="-2985" r="-184" b="-179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Рисунок 18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90C28FA-964E-ECC0-80D4-576E071766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2" t="57683" r="54006" b="27041"/>
          <a:stretch>
            <a:fillRect/>
          </a:stretch>
        </p:blipFill>
        <p:spPr>
          <a:xfrm>
            <a:off x="466929" y="6248043"/>
            <a:ext cx="952727" cy="4664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2763A29-583D-D840-55CF-C456B50E00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4125" y="6325216"/>
                <a:ext cx="6531427" cy="1617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ru-RU" dirty="0">
                    <a:latin typeface="Maki-Sans" panose="02000603000000000000" pitchFamily="2" charset="-52"/>
                  </a:rPr>
                  <a:t>Шаг </a:t>
                </a:r>
                <a:r>
                  <a:rPr lang="en-US" dirty="0">
                    <a:latin typeface="Maki-Sans" panose="02000603000000000000" pitchFamily="2" charset="-52"/>
                  </a:rPr>
                  <a:t>4</a:t>
                </a:r>
                <a:r>
                  <a:rPr lang="ru-RU" dirty="0">
                    <a:latin typeface="Maki-Sans" panose="02000603000000000000" pitchFamily="2" charset="-52"/>
                  </a:rPr>
                  <a:t>. Проверить выполнение критерия окончания</a:t>
                </a:r>
                <a:r>
                  <a:rPr lang="en-US" dirty="0">
                    <a:latin typeface="Maki-Sans" panose="02000603000000000000" pitchFamily="2" charset="-5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Maki-Sans" panose="02000603000000000000" pitchFamily="2" charset="-52"/>
                  </a:rPr>
                  <a:t>:</a:t>
                </a:r>
              </a:p>
              <a:p>
                <a:pPr marL="800132" lvl="1" indent="-342914">
                  <a:buFont typeface="+mj-lt"/>
                  <a:buAutoNum type="alphaLcParenR"/>
                </a:pPr>
                <a:r>
                  <a:rPr lang="ru-RU" dirty="0">
                    <a:latin typeface="Maki-Sans" panose="02000603000000000000" pitchFamily="2" charset="-52"/>
                  </a:rPr>
                  <a:t>если критерий выполнен, то</a:t>
                </a:r>
                <a:r>
                  <a:rPr lang="en-US" dirty="0">
                    <a:latin typeface="Maki-Sans" panose="02000603000000000000" pitchFamily="2" charset="-5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>
                    <a:latin typeface="Maki-Sans" panose="02000603000000000000" pitchFamily="2" charset="-52"/>
                  </a:rPr>
                  <a:t>;</a:t>
                </a:r>
              </a:p>
              <a:p>
                <a:pPr marL="800132" lvl="1" indent="-342914">
                  <a:buFont typeface="+mj-lt"/>
                  <a:buAutoNum type="alphaLcParenR"/>
                </a:pPr>
                <a:r>
                  <a:rPr lang="ru-RU" dirty="0">
                    <a:latin typeface="Maki-Sans" panose="02000603000000000000" pitchFamily="2" charset="-52"/>
                  </a:rPr>
                  <a:t>если критерий не выполнен, то перейти к шагу 5.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2763A29-583D-D840-55CF-C456B50E0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25" y="6325216"/>
                <a:ext cx="6531427" cy="1617751"/>
              </a:xfrm>
              <a:prstGeom prst="rect">
                <a:avLst/>
              </a:prstGeom>
              <a:blipFill>
                <a:blip r:embed="rId9"/>
                <a:stretch>
                  <a:fillRect l="-746" t="-1887" b="-56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Рисунок 20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45970B6-B915-1571-F8E3-BA54306F1A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2" t="57683" r="54006" b="27041"/>
          <a:stretch>
            <a:fillRect/>
          </a:stretch>
        </p:blipFill>
        <p:spPr>
          <a:xfrm>
            <a:off x="536999" y="7814616"/>
            <a:ext cx="952727" cy="4664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1749E8F-C530-328B-0290-F5F082C103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6999" y="7872100"/>
                <a:ext cx="6531427" cy="9282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ru-RU" dirty="0">
                    <a:latin typeface="Maki-Sans" panose="02000603000000000000" pitchFamily="2" charset="-52"/>
                  </a:rPr>
                  <a:t>Шаг </a:t>
                </a:r>
                <a:r>
                  <a:rPr lang="en-US" dirty="0">
                    <a:latin typeface="Maki-Sans" panose="02000603000000000000" pitchFamily="2" charset="-52"/>
                  </a:rPr>
                  <a:t>5</a:t>
                </a:r>
                <a:r>
                  <a:rPr lang="ru-RU" dirty="0">
                    <a:latin typeface="Maki-Sans" panose="02000603000000000000" pitchFamily="2" charset="-52"/>
                  </a:rPr>
                  <a:t>. Проверить выполнение неравенства</a:t>
                </a:r>
                <a:r>
                  <a:rPr lang="en-US" dirty="0">
                    <a:latin typeface="Maki-Sans" panose="02000603000000000000" pitchFamily="2" charset="-52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latin typeface="Maki-Sans" panose="02000603000000000000" pitchFamily="2" charset="-52"/>
                  </a:rPr>
                  <a:t>:</a:t>
                </a:r>
              </a:p>
              <a:p>
                <a:pPr marL="800132" lvl="1" indent="-342914">
                  <a:buFont typeface="+mj-lt"/>
                  <a:buAutoNum type="alphaLcParenR"/>
                </a:pPr>
                <a:r>
                  <a:rPr lang="ru-RU" dirty="0">
                    <a:latin typeface="Maki-Sans" panose="02000603000000000000" pitchFamily="2" charset="-52"/>
                  </a:rPr>
                  <a:t>если неравенство выполнено, то</a:t>
                </a:r>
                <a:r>
                  <a:rPr lang="en-US" dirty="0">
                    <a:latin typeface="Maki-Sans" panose="02000603000000000000" pitchFamily="2" charset="-5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>
                    <a:latin typeface="Maki-Sans" panose="02000603000000000000" pitchFamily="2" charset="-52"/>
                  </a:rPr>
                  <a:t>;</a:t>
                </a:r>
              </a:p>
              <a:p>
                <a:pPr marL="800132" lvl="1" indent="-342914">
                  <a:buFont typeface="+mj-lt"/>
                  <a:buAutoNum type="alphaLcParenR"/>
                </a:pPr>
                <a:r>
                  <a:rPr lang="ru-RU" dirty="0">
                    <a:latin typeface="Maki-Sans" panose="02000603000000000000" pitchFamily="2" charset="-52"/>
                  </a:rPr>
                  <a:t>если нет, то перейти к шагу 6.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1749E8F-C530-328B-0290-F5F082C10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99" y="7872100"/>
                <a:ext cx="6531427" cy="928267"/>
              </a:xfrm>
              <a:prstGeom prst="rect">
                <a:avLst/>
              </a:prstGeom>
              <a:blipFill>
                <a:blip r:embed="rId10"/>
                <a:stretch>
                  <a:fillRect l="-746" t="-2614" b="-98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9CB1938-A383-6588-F29B-77DD1DBDB6CD}"/>
                  </a:ext>
                </a:extLst>
              </p:cNvPr>
              <p:cNvSpPr txBox="1"/>
              <p:nvPr/>
            </p:nvSpPr>
            <p:spPr>
              <a:xfrm>
                <a:off x="497796" y="3938850"/>
                <a:ext cx="6517105" cy="1849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ru-RU" dirty="0">
                    <a:latin typeface="Maki-Sans" panose="02000603000000000000" pitchFamily="2" charset="-52"/>
                  </a:rPr>
                  <a:t> - последовательность положительных чисел, таких, что матрица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ru-RU" dirty="0">
                    <a:latin typeface="Maki-Sans" panose="02000603000000000000" pitchFamily="2" charset="-52"/>
                  </a:rPr>
                  <a:t> положительно определена. как правило, число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ru-RU" dirty="0">
                    <a:latin typeface="Maki-Sans" panose="02000603000000000000" pitchFamily="2" charset="-52"/>
                  </a:rPr>
                  <a:t> назначается как минимум на порядок больше, чем самый большой элемент матрицы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dirty="0">
                    <a:latin typeface="Maki-Sans" panose="02000603000000000000" pitchFamily="2" charset="-52"/>
                  </a:rPr>
                  <a:t>, а в ряде стандартных программ полагается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ru-RU" dirty="0">
                    <a:latin typeface="Maki-Sans" panose="02000603000000000000" pitchFamily="2" charset="-52"/>
                  </a:rPr>
                  <a:t>.</a:t>
                </a: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9CB1938-A383-6588-F29B-77DD1DBDB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796" y="3938850"/>
                <a:ext cx="6517105" cy="1849032"/>
              </a:xfrm>
              <a:prstGeom prst="rect">
                <a:avLst/>
              </a:prstGeom>
              <a:blipFill>
                <a:blip r:embed="rId11"/>
                <a:stretch>
                  <a:fillRect l="-842" t="-1320" r="-748" b="-46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8010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BCC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8A269-CFD8-DEEE-8720-BDCE4F2D6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381BE10-DA9F-B52B-1D51-1C1EA472F928}"/>
              </a:ext>
            </a:extLst>
          </p:cNvPr>
          <p:cNvSpPr/>
          <p:nvPr/>
        </p:nvSpPr>
        <p:spPr>
          <a:xfrm>
            <a:off x="270933" y="338667"/>
            <a:ext cx="6976534" cy="9990666"/>
          </a:xfrm>
          <a:prstGeom prst="roundRect">
            <a:avLst>
              <a:gd name="adj" fmla="val 8495"/>
            </a:avLst>
          </a:prstGeom>
          <a:solidFill>
            <a:srgbClr val="F5EBB9"/>
          </a:solidFill>
          <a:ln>
            <a:solidFill>
              <a:srgbClr val="D4DCC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" name="Рисунок 1" descr="Изображение выглядит как линия, прямоугольный, Прямоугольник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8793F6B-250B-29CC-F4D3-4CBA61A2E8F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33" y="338667"/>
            <a:ext cx="6999407" cy="9990666"/>
          </a:xfrm>
          <a:prstGeom prst="rect">
            <a:avLst/>
          </a:prstGeom>
        </p:spPr>
      </p:pic>
      <p:pic>
        <p:nvPicPr>
          <p:cNvPr id="7" name="Рисунок 6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4C5E67B-EE41-3963-5454-AD1A5C96E8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2" t="57683" r="54006" b="27041"/>
          <a:stretch>
            <a:fillRect/>
          </a:stretch>
        </p:blipFill>
        <p:spPr>
          <a:xfrm>
            <a:off x="473626" y="3567032"/>
            <a:ext cx="952727" cy="4664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E6427D7-2D68-B770-3460-8F0DFBBA89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0822" y="3644205"/>
                <a:ext cx="6531427" cy="1789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ru-RU" dirty="0">
                    <a:latin typeface="Maki-Sans" panose="02000603000000000000" pitchFamily="2" charset="-52"/>
                  </a:rPr>
                  <a:t>Шаг</a:t>
                </a:r>
                <a:r>
                  <a:rPr lang="en-US" dirty="0">
                    <a:latin typeface="Maki-Sans" panose="02000603000000000000" pitchFamily="2" charset="-52"/>
                  </a:rPr>
                  <a:t> </a:t>
                </a:r>
                <a:r>
                  <a:rPr lang="ru-RU" dirty="0">
                    <a:latin typeface="Maki-Sans" panose="02000603000000000000" pitchFamily="2" charset="-52"/>
                  </a:rPr>
                  <a:t>11.</a:t>
                </a:r>
                <a:r>
                  <a:rPr lang="en-US" dirty="0">
                    <a:latin typeface="Maki-Sans" panose="02000603000000000000" pitchFamily="2" charset="-52"/>
                  </a:rPr>
                  <a:t> </a:t>
                </a:r>
                <a:r>
                  <a:rPr lang="ru-RU" dirty="0">
                    <a:latin typeface="Maki-Sans" panose="02000603000000000000" pitchFamily="2" charset="-52"/>
                  </a:rPr>
                  <a:t>Проверить выполнение условия </a:t>
                </a:r>
                <a:endParaRPr lang="en-US" dirty="0">
                  <a:latin typeface="Maki-Sans" panose="02000603000000000000" pitchFamily="2" charset="-52"/>
                </a:endParaRPr>
              </a:p>
              <a:p>
                <a:pPr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latin typeface="Maki-Sans" panose="02000603000000000000" pitchFamily="2" charset="-52"/>
                  </a:rPr>
                  <a:t>:</a:t>
                </a:r>
              </a:p>
              <a:p>
                <a:pPr marL="342900" indent="-342900">
                  <a:buFont typeface="+mj-lt"/>
                  <a:buAutoNum type="alphaLcParenR"/>
                </a:pPr>
                <a:r>
                  <a:rPr lang="ru-RU" dirty="0">
                    <a:latin typeface="Maki-Sans" panose="02000603000000000000" pitchFamily="2" charset="-52"/>
                  </a:rPr>
                  <a:t>если неравенство выполняется, то перейти к шагу 12;</a:t>
                </a:r>
              </a:p>
              <a:p>
                <a:pPr marL="342900" indent="-342900">
                  <a:buFont typeface="+mj-lt"/>
                  <a:buAutoNum type="alphaLcParenR"/>
                </a:pPr>
                <a:r>
                  <a:rPr lang="ru-RU" dirty="0">
                    <a:latin typeface="Maki-Sans" panose="02000603000000000000" pitchFamily="2" charset="-52"/>
                  </a:rPr>
                  <a:t>если нет, то перейти к шагу 13.</a:t>
                </a:r>
                <a:endParaRPr lang="en-US" dirty="0">
                  <a:latin typeface="Maki-Sans" panose="02000603000000000000" pitchFamily="2" charset="-52"/>
                </a:endParaRPr>
              </a:p>
              <a:p>
                <a:pPr algn="just">
                  <a:buNone/>
                </a:pPr>
                <a:endParaRPr lang="ru-RU" dirty="0">
                  <a:latin typeface="Maki-Sans" panose="02000603000000000000" pitchFamily="2" charset="-52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E6427D7-2D68-B770-3460-8F0DFBBA8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22" y="3644205"/>
                <a:ext cx="6531427" cy="1789977"/>
              </a:xfrm>
              <a:prstGeom prst="rect">
                <a:avLst/>
              </a:prstGeom>
              <a:blipFill>
                <a:blip r:embed="rId5"/>
                <a:stretch>
                  <a:fillRect l="-746" t="-17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0731029-47A4-E71D-A0A1-742D913713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2" t="57683" r="54006" b="27041"/>
          <a:stretch>
            <a:fillRect/>
          </a:stretch>
        </p:blipFill>
        <p:spPr>
          <a:xfrm>
            <a:off x="419731" y="5120587"/>
            <a:ext cx="952727" cy="4664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8416F2-63D4-9A36-14B2-1988CD95BD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927" y="5074377"/>
                <a:ext cx="6531427" cy="10904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ru-RU" dirty="0">
                    <a:latin typeface="Maki-Sans" panose="02000603000000000000" pitchFamily="2" charset="-52"/>
                  </a:rPr>
                  <a:t>Шаг</a:t>
                </a:r>
                <a:r>
                  <a:rPr lang="en-US" dirty="0">
                    <a:latin typeface="Maki-Sans" panose="02000603000000000000" pitchFamily="2" charset="-52"/>
                  </a:rPr>
                  <a:t> </a:t>
                </a:r>
                <a:r>
                  <a:rPr lang="ru-RU" dirty="0">
                    <a:latin typeface="Maki-Sans" panose="02000603000000000000" pitchFamily="2" charset="-52"/>
                  </a:rPr>
                  <a:t>12.</a:t>
                </a:r>
                <a:r>
                  <a:rPr lang="en-US" dirty="0">
                    <a:latin typeface="Maki-Sans" panose="02000603000000000000" pitchFamily="2" charset="-52"/>
                  </a:rPr>
                  <a:t> </a:t>
                </a:r>
                <a:r>
                  <a:rPr lang="ru-RU" dirty="0">
                    <a:latin typeface="Maki-Sans" panose="02000603000000000000" pitchFamily="2" charset="-52"/>
                  </a:rPr>
                  <a:t>Положить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>
                    <a:latin typeface="Maki-Sans" panose="02000603000000000000" pitchFamily="2" charset="-52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latin typeface="Maki-Sans" panose="02000603000000000000" pitchFamily="2" charset="-52"/>
                  </a:rPr>
                  <a:t> </a:t>
                </a:r>
                <a:r>
                  <a:rPr lang="ru-RU" dirty="0">
                    <a:latin typeface="Maki-Sans" panose="02000603000000000000" pitchFamily="2" charset="-52"/>
                  </a:rPr>
                  <a:t>и перейти к шагу 3.</a:t>
                </a:r>
                <a:endParaRPr lang="en-US" dirty="0">
                  <a:latin typeface="Maki-Sans" panose="02000603000000000000" pitchFamily="2" charset="-52"/>
                </a:endParaRPr>
              </a:p>
              <a:p>
                <a:pPr algn="just">
                  <a:buNone/>
                </a:pPr>
                <a:endParaRPr lang="ru-RU" dirty="0">
                  <a:latin typeface="Maki-Sans" panose="02000603000000000000" pitchFamily="2" charset="-52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8416F2-63D4-9A36-14B2-1988CD95B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27" y="5074377"/>
                <a:ext cx="6531427" cy="1090491"/>
              </a:xfrm>
              <a:prstGeom prst="rect">
                <a:avLst/>
              </a:prstGeom>
              <a:blipFill>
                <a:blip r:embed="rId6"/>
                <a:stretch>
                  <a:fillRect l="-840" r="-7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F2BF9BF-14F6-22CD-92E3-1EEC8B2B66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2" t="57683" r="54006" b="27041"/>
          <a:stretch>
            <a:fillRect/>
          </a:stretch>
        </p:blipFill>
        <p:spPr>
          <a:xfrm>
            <a:off x="489800" y="6140047"/>
            <a:ext cx="952727" cy="3335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91B5D0A-7B24-3147-AD47-FA2A100997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3626" y="6094992"/>
                <a:ext cx="6531427" cy="6512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ru-RU" dirty="0">
                    <a:latin typeface="Maki-Sans" panose="02000603000000000000" pitchFamily="2" charset="-52"/>
                  </a:rPr>
                  <a:t>Шаг</a:t>
                </a:r>
                <a:r>
                  <a:rPr lang="en-US" dirty="0">
                    <a:latin typeface="Maki-Sans" panose="02000603000000000000" pitchFamily="2" charset="-52"/>
                  </a:rPr>
                  <a:t> </a:t>
                </a:r>
                <a:r>
                  <a:rPr lang="ru-RU" dirty="0">
                    <a:latin typeface="Maki-Sans" panose="02000603000000000000" pitchFamily="2" charset="-52"/>
                  </a:rPr>
                  <a:t>1</a:t>
                </a:r>
                <a:r>
                  <a:rPr lang="en-US" dirty="0">
                    <a:latin typeface="Maki-Sans" panose="02000603000000000000" pitchFamily="2" charset="-52"/>
                  </a:rPr>
                  <a:t>3</a:t>
                </a:r>
                <a:r>
                  <a:rPr lang="ru-RU" dirty="0">
                    <a:latin typeface="Maki-Sans" panose="02000603000000000000" pitchFamily="2" charset="-52"/>
                  </a:rPr>
                  <a:t>.</a:t>
                </a:r>
                <a:r>
                  <a:rPr lang="en-US" dirty="0">
                    <a:latin typeface="Maki-Sans" panose="02000603000000000000" pitchFamily="2" charset="-52"/>
                  </a:rPr>
                  <a:t> </a:t>
                </a:r>
                <a:r>
                  <a:rPr lang="ru-RU" dirty="0">
                    <a:latin typeface="Maki-Sans" panose="02000603000000000000" pitchFamily="2" charset="-52"/>
                  </a:rPr>
                  <a:t>Положить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>
                    <a:latin typeface="Maki-Sans" panose="02000603000000000000" pitchFamily="2" charset="-52"/>
                  </a:rPr>
                  <a:t> </a:t>
                </a:r>
                <a:r>
                  <a:rPr lang="ru-RU" dirty="0">
                    <a:latin typeface="Maki-Sans" panose="02000603000000000000" pitchFamily="2" charset="-52"/>
                  </a:rPr>
                  <a:t>и перейти к шагу </a:t>
                </a:r>
                <a:r>
                  <a:rPr lang="en-US" dirty="0">
                    <a:latin typeface="Maki-Sans" panose="02000603000000000000" pitchFamily="2" charset="-52"/>
                  </a:rPr>
                  <a:t>7</a:t>
                </a:r>
                <a:r>
                  <a:rPr lang="ru-RU" dirty="0">
                    <a:latin typeface="Maki-Sans" panose="02000603000000000000" pitchFamily="2" charset="-52"/>
                  </a:rPr>
                  <a:t>.</a:t>
                </a:r>
                <a:endParaRPr lang="en-US" dirty="0">
                  <a:latin typeface="Maki-Sans" panose="02000603000000000000" pitchFamily="2" charset="-52"/>
                </a:endParaRPr>
              </a:p>
              <a:p>
                <a:pPr algn="just">
                  <a:buNone/>
                </a:pPr>
                <a:endParaRPr lang="ru-RU" dirty="0">
                  <a:latin typeface="Maki-Sans" panose="02000603000000000000" pitchFamily="2" charset="-52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91B5D0A-7B24-3147-AD47-FA2A10099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26" y="6094992"/>
                <a:ext cx="6531427" cy="651269"/>
              </a:xfrm>
              <a:prstGeom prst="rect">
                <a:avLst/>
              </a:prstGeom>
              <a:blipFill>
                <a:blip r:embed="rId7"/>
                <a:stretch>
                  <a:fillRect l="-840" t="-46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Рисунок 22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0F84024-D010-B76B-8F97-588E4BCE30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2" t="57683" r="54006" b="27041"/>
          <a:stretch>
            <a:fillRect/>
          </a:stretch>
        </p:blipFill>
        <p:spPr>
          <a:xfrm>
            <a:off x="501028" y="384373"/>
            <a:ext cx="952727" cy="4664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FD9448A-9F4B-6557-E022-B499CDA45B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1028" y="441856"/>
                <a:ext cx="4668937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ru-RU" dirty="0">
                    <a:latin typeface="Maki-Sans" panose="02000603000000000000" pitchFamily="2" charset="-52"/>
                  </a:rPr>
                  <a:t>Шаг 6. Вычислить матрицу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Maki-Sans" panose="02000603000000000000" pitchFamily="2" charset="-52"/>
                  </a:rPr>
                  <a:t>.</a:t>
                </a:r>
                <a:endParaRPr lang="ru-RU" dirty="0">
                  <a:latin typeface="Maki-Sans" panose="02000603000000000000" pitchFamily="2" charset="-52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FD9448A-9F4B-6557-E022-B499CDA45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28" y="441856"/>
                <a:ext cx="4668937" cy="374270"/>
              </a:xfrm>
              <a:prstGeom prst="rect">
                <a:avLst/>
              </a:prstGeom>
              <a:blipFill>
                <a:blip r:embed="rId8"/>
                <a:stretch>
                  <a:fillRect l="-1044" t="-6452" b="-241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Рисунок 24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0A77507-9C09-9CDC-EB0D-B7F2AC7855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2" t="57683" r="54006" b="27041"/>
          <a:stretch>
            <a:fillRect/>
          </a:stretch>
        </p:blipFill>
        <p:spPr>
          <a:xfrm>
            <a:off x="473626" y="1036765"/>
            <a:ext cx="952727" cy="4664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144319C-F905-6629-43C0-55211DA77F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3626" y="1094248"/>
                <a:ext cx="5252242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ru-RU" dirty="0">
                    <a:latin typeface="Maki-Sans" panose="02000603000000000000" pitchFamily="2" charset="-52"/>
                  </a:rPr>
                  <a:t>Шаг </a:t>
                </a:r>
                <a:r>
                  <a:rPr lang="en-US" dirty="0">
                    <a:latin typeface="Maki-Sans" panose="02000603000000000000" pitchFamily="2" charset="-52"/>
                  </a:rPr>
                  <a:t>7</a:t>
                </a:r>
                <a:r>
                  <a:rPr lang="ru-RU" dirty="0">
                    <a:latin typeface="Maki-Sans" panose="02000603000000000000" pitchFamily="2" charset="-52"/>
                  </a:rPr>
                  <a:t>. Вычислить матрицу</a:t>
                </a:r>
                <a:r>
                  <a:rPr lang="en-US" dirty="0">
                    <a:latin typeface="Maki-Sans" panose="02000603000000000000" pitchFamily="2" charset="-52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>
                    <a:latin typeface="Maki-Sans" panose="02000603000000000000" pitchFamily="2" charset="-52"/>
                  </a:rPr>
                  <a:t>.</a:t>
                </a:r>
                <a:endParaRPr lang="ru-RU" dirty="0">
                  <a:latin typeface="Maki-Sans" panose="02000603000000000000" pitchFamily="2" charset="-52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144319C-F905-6629-43C0-55211DA77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26" y="1094248"/>
                <a:ext cx="5252242" cy="404983"/>
              </a:xfrm>
              <a:prstGeom prst="rect">
                <a:avLst/>
              </a:prstGeom>
              <a:blipFill>
                <a:blip r:embed="rId9"/>
                <a:stretch>
                  <a:fillRect l="-1045" t="-4545" b="-196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Рисунок 26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455D2CC-1931-5C79-2DC9-34C61D8E2F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2" t="57683" r="54006" b="27041"/>
          <a:stretch>
            <a:fillRect/>
          </a:stretch>
        </p:blipFill>
        <p:spPr>
          <a:xfrm>
            <a:off x="466928" y="1642900"/>
            <a:ext cx="952727" cy="4664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BBFF080-7ADA-2A5A-A61D-435A247D3B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927" y="1620078"/>
                <a:ext cx="6688189" cy="459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ru-RU" dirty="0">
                    <a:latin typeface="Maki-Sans" panose="02000603000000000000" pitchFamily="2" charset="-52"/>
                  </a:rPr>
                  <a:t>Шаг </a:t>
                </a:r>
                <a:r>
                  <a:rPr lang="en-US" dirty="0">
                    <a:latin typeface="Maki-Sans" panose="02000603000000000000" pitchFamily="2" charset="-52"/>
                  </a:rPr>
                  <a:t>8</a:t>
                </a:r>
                <a:r>
                  <a:rPr lang="ru-RU" dirty="0">
                    <a:latin typeface="Maki-Sans" panose="02000603000000000000" pitchFamily="2" charset="-52"/>
                  </a:rPr>
                  <a:t>. Вычислить матрицу</a:t>
                </a:r>
                <a:r>
                  <a:rPr lang="en-US" dirty="0">
                    <a:latin typeface="Maki-Sans" panose="02000603000000000000" pitchFamily="2" charset="-5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>
                    <a:latin typeface="Maki-Sans" panose="02000603000000000000" pitchFamily="2" charset="-52"/>
                  </a:rPr>
                  <a:t>.</a:t>
                </a:r>
                <a:endParaRPr lang="ru-RU" dirty="0">
                  <a:latin typeface="Maki-Sans" panose="02000603000000000000" pitchFamily="2" charset="-52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BBFF080-7ADA-2A5A-A61D-435A247D3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27" y="1620078"/>
                <a:ext cx="6688189" cy="459100"/>
              </a:xfrm>
              <a:prstGeom prst="rect">
                <a:avLst/>
              </a:prstGeom>
              <a:blipFill>
                <a:blip r:embed="rId10"/>
                <a:stretch>
                  <a:fillRect l="-820" b="-17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Рисунок 28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8FC3250-7503-B65F-E560-B208E07ECD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2" t="57683" r="54006" b="27041"/>
          <a:stretch>
            <a:fillRect/>
          </a:stretch>
        </p:blipFill>
        <p:spPr>
          <a:xfrm>
            <a:off x="501028" y="2267311"/>
            <a:ext cx="952727" cy="4664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8CBD6A6-EBE2-A8C6-0449-209E3B94B7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927" y="2223298"/>
                <a:ext cx="5764242" cy="459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ru-RU" dirty="0">
                    <a:latin typeface="Maki-Sans" panose="02000603000000000000" pitchFamily="2" charset="-52"/>
                  </a:rPr>
                  <a:t>Шаг </a:t>
                </a:r>
                <a:r>
                  <a:rPr lang="en-US" dirty="0">
                    <a:latin typeface="Maki-Sans" panose="02000603000000000000" pitchFamily="2" charset="-52"/>
                  </a:rPr>
                  <a:t>9</a:t>
                </a:r>
                <a:r>
                  <a:rPr lang="ru-RU" dirty="0">
                    <a:latin typeface="Maki-Sans" panose="02000603000000000000" pitchFamily="2" charset="-52"/>
                  </a:rPr>
                  <a:t>. Вычислить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m:rPr>
                        <m:sty m:val="p"/>
                      </m:rP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latin typeface="Maki-Sans" panose="02000603000000000000" pitchFamily="2" charset="-52"/>
                  </a:rPr>
                  <a:t>.</a:t>
                </a:r>
                <a:endParaRPr lang="ru-RU" dirty="0">
                  <a:latin typeface="Maki-Sans" panose="02000603000000000000" pitchFamily="2" charset="-52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8CBD6A6-EBE2-A8C6-0449-209E3B94B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27" y="2223298"/>
                <a:ext cx="5764242" cy="459100"/>
              </a:xfrm>
              <a:prstGeom prst="rect">
                <a:avLst/>
              </a:prstGeom>
              <a:blipFill>
                <a:blip r:embed="rId11"/>
                <a:stretch>
                  <a:fillRect l="-952" b="-17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Рисунок 30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D5C13ED-A0F1-71BA-0019-7F45BE5708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2" t="57683" r="54006" b="27041"/>
          <a:stretch>
            <a:fillRect/>
          </a:stretch>
        </p:blipFill>
        <p:spPr>
          <a:xfrm>
            <a:off x="489800" y="2900262"/>
            <a:ext cx="952727" cy="4664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5C10FAD-1A98-B505-572C-5C9E599537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9800" y="2957745"/>
                <a:ext cx="6472282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ru-RU" dirty="0">
                    <a:latin typeface="Maki-Sans" panose="02000603000000000000" pitchFamily="2" charset="-52"/>
                  </a:rPr>
                  <a:t>Шаг 10. Найти точку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ru-RU" dirty="0">
                    <a:latin typeface="Maki-Sans" panose="02000603000000000000" pitchFamily="2" charset="-52"/>
                  </a:rPr>
                  <a:t>.</a:t>
                </a: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5C10FAD-1A98-B505-572C-5C9E59953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800" y="2957745"/>
                <a:ext cx="6472282" cy="374270"/>
              </a:xfrm>
              <a:prstGeom prst="rect">
                <a:avLst/>
              </a:prstGeom>
              <a:blipFill>
                <a:blip r:embed="rId12"/>
                <a:stretch>
                  <a:fillRect l="-753" t="-6452" b="-241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B1DC412-0975-5B63-F086-D6F497483BEE}"/>
                  </a:ext>
                </a:extLst>
              </p:cNvPr>
              <p:cNvSpPr txBox="1"/>
              <p:nvPr/>
            </p:nvSpPr>
            <p:spPr>
              <a:xfrm>
                <a:off x="478150" y="6714189"/>
                <a:ext cx="6520204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При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ru-RU" dirty="0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: направление близко к ньютоновскому (быстрая сходимость)</a:t>
                </a:r>
                <a:r>
                  <a:rPr lang="en-US" dirty="0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.</a:t>
                </a:r>
                <a:endParaRPr lang="ru-RU" dirty="0">
                  <a:latin typeface="Cascadia Mono" panose="020B0609020000020004" pitchFamily="49" charset="0"/>
                  <a:cs typeface="Cascadia Mono" panose="020B0609020000020004" pitchFamily="49" charset="0"/>
                </a:endParaRPr>
              </a:p>
              <a:p>
                <a:pPr algn="just"/>
                <a:r>
                  <a:rPr lang="ru-RU" dirty="0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При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: направление близко к антиградиенту (устойчивый, но медленный спуск)</a:t>
                </a:r>
              </a:p>
              <a:p>
                <a:pPr algn="just"/>
                <a:r>
                  <a:rPr lang="ru-RU" dirty="0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Метод </a:t>
                </a:r>
                <a:r>
                  <a:rPr lang="ru-RU" dirty="0" err="1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Марквардта</a:t>
                </a:r>
                <a:r>
                  <a:rPr lang="ru-RU" dirty="0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 автоматически регулирует 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 между этими крайностями</a:t>
                </a:r>
                <a:r>
                  <a:rPr lang="en-US" dirty="0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.</a:t>
                </a:r>
                <a:endParaRPr lang="ru-RU" dirty="0">
                  <a:latin typeface="Cascadia Mono" panose="020B0609020000020004" pitchFamily="49" charset="0"/>
                  <a:cs typeface="Cascadia Mono" panose="020B0609020000020004" pitchFamily="49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B1DC412-0975-5B63-F086-D6F497483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150" y="6714189"/>
                <a:ext cx="6520204" cy="1754326"/>
              </a:xfrm>
              <a:prstGeom prst="rect">
                <a:avLst/>
              </a:prstGeom>
              <a:blipFill>
                <a:blip r:embed="rId13"/>
                <a:stretch>
                  <a:fillRect l="-748" t="-1389" r="-2897" b="-52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4565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BCC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C283FC-E077-2449-4EFF-640B18111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D3F7CEF-2104-4724-CC12-94E01B707F4F}"/>
              </a:ext>
            </a:extLst>
          </p:cNvPr>
          <p:cNvSpPr/>
          <p:nvPr/>
        </p:nvSpPr>
        <p:spPr>
          <a:xfrm>
            <a:off x="270933" y="338667"/>
            <a:ext cx="6976534" cy="9990666"/>
          </a:xfrm>
          <a:prstGeom prst="roundRect">
            <a:avLst>
              <a:gd name="adj" fmla="val 8495"/>
            </a:avLst>
          </a:prstGeom>
          <a:solidFill>
            <a:srgbClr val="F5EBB9"/>
          </a:solidFill>
          <a:ln>
            <a:solidFill>
              <a:srgbClr val="D4DCC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" name="Рисунок 1" descr="Изображение выглядит как линия, прямоугольный, Прямоугольник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E8D5A4F-BA72-4874-8FBA-C6825718136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33" y="338667"/>
            <a:ext cx="6999407" cy="999066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6F1DEA-C7C9-A9EE-DC43-55C4DCF36E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"/>
            <a:ext cx="7559675" cy="1069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380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BCC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50098-CC4E-14AF-5C8C-031FB0B0C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3D2AC72-0DDC-4649-13C4-2DA0FCF45F68}"/>
              </a:ext>
            </a:extLst>
          </p:cNvPr>
          <p:cNvSpPr/>
          <p:nvPr/>
        </p:nvSpPr>
        <p:spPr>
          <a:xfrm>
            <a:off x="270933" y="338667"/>
            <a:ext cx="6976534" cy="9990666"/>
          </a:xfrm>
          <a:prstGeom prst="roundRect">
            <a:avLst>
              <a:gd name="adj" fmla="val 8495"/>
            </a:avLst>
          </a:prstGeom>
          <a:solidFill>
            <a:srgbClr val="F5EBB9"/>
          </a:solidFill>
          <a:ln>
            <a:solidFill>
              <a:srgbClr val="D4DCC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" name="Рисунок 1" descr="Изображение выглядит как линия, прямоугольный, Прямоугольник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1F25F18-B19B-791E-F8B5-7C21441C56E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33" y="338667"/>
            <a:ext cx="6999407" cy="999066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6A3C91D-010A-4925-8920-7EFEA73B27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"/>
            <a:ext cx="7559675" cy="1069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809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BCC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7B5A9C-804E-3A98-34C8-273685DBA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DA979BB-F168-9289-88D9-B2DEA6D4F7AA}"/>
              </a:ext>
            </a:extLst>
          </p:cNvPr>
          <p:cNvSpPr/>
          <p:nvPr/>
        </p:nvSpPr>
        <p:spPr>
          <a:xfrm>
            <a:off x="270933" y="338667"/>
            <a:ext cx="6976534" cy="9990666"/>
          </a:xfrm>
          <a:prstGeom prst="roundRect">
            <a:avLst>
              <a:gd name="adj" fmla="val 8495"/>
            </a:avLst>
          </a:prstGeom>
          <a:solidFill>
            <a:srgbClr val="F5EBB9"/>
          </a:solidFill>
          <a:ln>
            <a:solidFill>
              <a:srgbClr val="D4DCC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" name="Рисунок 1" descr="Изображение выглядит как линия, прямоугольный, Прямоугольник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285C04C-6CB2-1650-3BD2-5F08C111DC3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33" y="338667"/>
            <a:ext cx="6999407" cy="999066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6B17495-0602-10A7-A71B-3976B3A91E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"/>
            <a:ext cx="7559675" cy="1069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1533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31916</TotalTime>
  <Words>567</Words>
  <Application>Microsoft Office PowerPoint</Application>
  <PresentationFormat>Произвольный</PresentationFormat>
  <Paragraphs>55</Paragraphs>
  <Slides>8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Cambria Math</vt:lpstr>
      <vt:lpstr>Cascadia Mono</vt:lpstr>
      <vt:lpstr>Comic Sans MS</vt:lpstr>
      <vt:lpstr>Maki-Sans</vt:lpstr>
      <vt:lpstr>Тема Office 2013–2022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28</cp:revision>
  <dcterms:created xsi:type="dcterms:W3CDTF">2025-08-22T12:14:10Z</dcterms:created>
  <dcterms:modified xsi:type="dcterms:W3CDTF">2025-11-12T12:52:28Z</dcterms:modified>
</cp:coreProperties>
</file>